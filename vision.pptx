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8" Type="http://schemas.openxmlformats.org/officeDocument/2006/relationships/viewProps" Target="viewProps.xml" /><Relationship Id="rId17" Type="http://schemas.openxmlformats.org/officeDocument/2006/relationships/presProps" Target="presProps.xml" /><Relationship Id="rId1" Type="http://schemas.openxmlformats.org/officeDocument/2006/relationships/slideMaster" Target="slideMasters/slideMaster1.xml" /><Relationship Id="rId20" Type="http://schemas.openxmlformats.org/officeDocument/2006/relationships/tableStyles" Target="tableStyles.xml" /><Relationship Id="rId1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Jebel-Quant/rhiza-education" TargetMode="Externa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Jebel-Quant/rhiza" TargetMode="External" /><Relationship Id="rId3" Type="http://schemas.openxmlformats.org/officeDocument/2006/relationships/hyperlink" Target="https://github.com/Jebel-Quant/rhiza-cli" TargetMode="External" /><Relationship Id="rId4" Type="http://schemas.openxmlformats.org/officeDocument/2006/relationships/hyperlink" Target="https://github.com/Jebel-Quant/rhiza-tools" TargetMode="External" /><Relationship Id="rId5" Type="http://schemas.openxmlformats.org/officeDocument/2006/relationships/hyperlink" Target="https://github.com/Jebel-Quant/rhiza-hooks" TargetMode="External" /><Relationship Id="rId6" Type="http://schemas.openxmlformats.org/officeDocument/2006/relationships/hyperlink" Target="https://github.com/Jebel-Quant/rhiza-education" TargetMode="External" /><Relationship Id="rId7" Type="http://schemas.openxmlformats.org/officeDocument/2006/relationships/hyperlink" Target="https://github.com/Jebel-Quant/linalg" TargetMode="External" /><Relationship Id="rId8" Type="http://schemas.openxmlformats.org/officeDocument/2006/relationships/hyperlink" Target="https://github.com/Jebel-Quant/basanos" TargetMode="External" /><Relationship Id="rId9" Type="http://schemas.openxmlformats.org/officeDocument/2006/relationships/hyperlink" Target="https://github.com/Jebel-Quant/jquantstats"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 Technology Vision for Quantitative Trading</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i="1"/>
              <a:t>Thomas Schmelzer — May 2026</a:t>
            </a:r>
          </a:p>
          <a:p>
            <a:pPr lvl="0" indent="0" marL="0">
              <a:buNone/>
            </a:pPr>
            <a:r>
              <a:rPr i="1"/>
              <a:t>These are my personal views on how a quantitative trading platform should be built. I have spent two decades working across systematic hedge funds, high-frequency trading, family offices and sovereign wealth funds. The practices I describe in the early sections were perfectly reasonable at the time. Technology has moved on, and I think the way we build and run these platforms should move on too.</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Executive Summary</a:t>
            </a:r>
          </a:p>
        </p:txBody>
      </p:sp>
      <p:sp>
        <p:nvSpPr>
          <p:cNvPr id="3" name="Content Placeholder 2"/>
          <p:cNvSpPr>
            <a:spLocks noGrp="1"/>
          </p:cNvSpPr>
          <p:nvPr>
            <p:ph idx="1"/>
          </p:nvPr>
        </p:nvSpPr>
        <p:spPr/>
        <p:txBody>
          <a:bodyPr/>
          <a:lstStyle/>
          <a:p>
            <a:pPr lvl="0" indent="0" marL="0">
              <a:buNone/>
            </a:pPr>
            <a:r>
              <a:rPr/>
              <a:t>For most of its history, quantitative trading has been organised around a handover. Researchers developed strategies in MATLAB or Python; engineers reimplemented everything in C++. Knowledge fragmented across personal scripts. New hires rebuilt the same basic tools from scratch. When modern machine learning arrived, the C++ mandate became impossible to sustain. No team can reimplement PyTorch.</a:t>
            </a:r>
          </a:p>
          <a:p>
            <a:pPr lvl="0" indent="0" marL="0">
              <a:buNone/>
            </a:pPr>
            <a:r>
              <a:rPr/>
              <a:t>This platform is built on a different premise. Research and production share the same environment. The container a researcher uses to develop a strategy is the same one that runs live. Moving between environments is a matter of changing configuration files, not rewriting code. A clean interface to the prime broker means the strategy works the same way whether it is talking to a simulator or a live venue.</a:t>
            </a:r>
          </a:p>
          <a:p>
            <a:pPr lvl="0" indent="0" marL="0">
              <a:buNone/>
            </a:pPr>
            <a:r>
              <a:rPr/>
              <a:t>The team is not divided into researchers and developers. It works more like a professional kitchen: collaborative, with quality as a shared responsibility at every step. Common tools for data access, portfolio construction, performance analytics and live monitoring are built once and shared. Rhiza keeps project scaffolding consistent across all strategy repositories so infrastructure drift never becomes a distraction. The platform exists so the team can focus on the one thing that cannot be bought off the shelf: the edge.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Old Approach</a:t>
            </a:r>
          </a:p>
        </p:txBody>
      </p:sp>
      <p:sp>
        <p:nvSpPr>
          <p:cNvPr id="3" name="Content Placeholder 2"/>
          <p:cNvSpPr>
            <a:spLocks noGrp="1"/>
          </p:cNvSpPr>
          <p:nvPr>
            <p:ph idx="1"/>
          </p:nvPr>
        </p:nvSpPr>
        <p:spPr/>
        <p:txBody>
          <a:bodyPr/>
          <a:lstStyle/>
          <a:p>
            <a:pPr lvl="0" indent="0" marL="0">
              <a:buNone/>
            </a:pPr>
            <a:r>
              <a:rPr/>
              <a:t>For most of the industry’s history, quantitative research followed a familiar pattern. A small group of researchers, typically mathematicians, physicists and statisticians, would develop trading strategies in MATLAB or Python. These environments suited the work well: easy to iterate on, rich in numerical libraries and close to the mathematical notation of the models. A researcher could move from an idea to a backtest in a matter of days.</a:t>
            </a:r>
          </a:p>
          <a:p>
            <a:pPr lvl="0" indent="0" marL="0">
              <a:buNone/>
            </a:pPr>
            <a:r>
              <a:rPr/>
              <a:t>The outputs were scripts: dense, clever and personal. Variable names made sense to their authors. Logic accumulated in layers over months or years. The code worked, and it carried real insight about markets.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Reinventing the Wheel</a:t>
            </a:r>
          </a:p>
        </p:txBody>
      </p:sp>
      <p:sp>
        <p:nvSpPr>
          <p:cNvPr id="3" name="Content Placeholder 2"/>
          <p:cNvSpPr>
            <a:spLocks noGrp="1"/>
          </p:cNvSpPr>
          <p:nvPr>
            <p:ph idx="1"/>
          </p:nvPr>
        </p:nvSpPr>
        <p:spPr/>
        <p:txBody>
          <a:bodyPr/>
          <a:lstStyle/>
          <a:p>
            <a:pPr lvl="0" indent="0" marL="0">
              <a:buNone/>
            </a:pPr>
            <a:r>
              <a:rPr/>
              <a:t>Because research lived in personal scripts, knowledge did not accumulate. Each researcher wrote their own version of the same basic components: moving averages, momentum signals, mean-reversion filters, portfolio construction routines. There was no shared library, no common vocabulary in code. Two researchers on the same team might implement the same idea with different conventions, different edge case handling, different numerical choices. When results diverged, it was hard to know why.</a:t>
            </a:r>
          </a:p>
          <a:p>
            <a:pPr lvl="0" indent="0" marL="0">
              <a:buNone/>
            </a:pPr>
            <a:r>
              <a:rPr/>
              <a:t>This also made it difficult to build on what had come before. Onboarding a new researcher often meant starting from scratch. Institutional knowledge lived in people rather than in code, and walked out the door when those people moved on.</a:t>
            </a:r>
          </a:p>
          <a:p>
            <a:pPr lvl="0" indent="0" marL="0">
              <a:buNone/>
            </a:pPr>
            <a:r>
              <a:rPr/>
              <a:t>There is a subtler problem too. Researchers working in isolation tend to gravitate towards strategies they can implement themselves. The limit is often their programming skills rather than their research ideas. A researcher with strong mathematical intuition but modest software engineering experience will keep returning to the same simple constructions, not because they are the best ideas available but because they are the ones within reach. A shared platform with well-built common tools raises that ceiling. The researcher’s ambition is no longer bounded by what they can personally code from scratch.</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Handover Problem</a:t>
            </a:r>
          </a:p>
        </p:txBody>
      </p:sp>
      <p:sp>
        <p:nvSpPr>
          <p:cNvPr id="3" name="Content Placeholder 2"/>
          <p:cNvSpPr>
            <a:spLocks noGrp="1"/>
          </p:cNvSpPr>
          <p:nvPr>
            <p:ph idx="1"/>
          </p:nvPr>
        </p:nvSpPr>
        <p:spPr/>
        <p:txBody>
          <a:bodyPr/>
          <a:lstStyle/>
          <a:p>
            <a:pPr lvl="0" indent="0" marL="0">
              <a:buNone/>
            </a:pPr>
            <a:r>
              <a:rPr/>
              <a:t>When a strategy was ready for production, it was passed to a team of software engineers to reimplement in C++. The rationale made sense: C++ offered the performance, determinism and operational robustness that live trading required. But the process was expensive.</a:t>
            </a:r>
          </a:p>
          <a:p>
            <a:pPr lvl="0" indent="0" marL="0">
              <a:buNone/>
            </a:pPr>
            <a:r>
              <a:rPr/>
              <a:t>The handover was rarely clean. A MATLAB matrix operation that fit on one line might require careful memory management and numerical precision decisions in C++. Edge cases the script handled implicitly had to be made explicit. Bugs crept in during reimplementation and were hard to catch because the reference and production implementations diverged the moment the handover began.</a:t>
            </a:r>
          </a:p>
          <a:p>
            <a:pPr lvl="0" indent="0" marL="0">
              <a:buNone/>
            </a:pPr>
            <a:r>
              <a:rPr/>
              <a:t>The result was a slow pipeline. Research cycles were constrained by engineering capacity. Months could pass between an idea and a live strategy. Every change to a live strategy risked restarting the process.</a:t>
            </a:r>
          </a:p>
          <a:p>
            <a:pPr lvl="0" indent="0" marL="0">
              <a:buNone/>
            </a:pPr>
            <a:r>
              <a:rPr/>
              <a:t>Modern machine learning made this untenable. Libraries like PyTorch represent millions of engineering hours: automatic differentiation, GPU kernels, distributed training, a vast ecosystem of pretrained models. Reimplementing any meaningful fraction of that in C++ is not a project; it is a decade-long programme. Teams that held to the C++ mandate found themselves unable to use these tools, and fell behind those that did.</a:t>
            </a:r>
          </a:p>
          <a:p>
            <a:pPr lvl="0" indent="0" marL="0">
              <a:buNone/>
            </a:pPr>
            <a:r>
              <a:rPr/>
              <a:t>There is a human cost to the handover model that rarely gets discussed. When something goes wrong in a live strategy, the handover creates a ready-made alibi for everyone involved. The researcher points to the Python code and says it was correct. The engineer points to the C++ implementation and says it faithfully reproduced what was handed over. The operations team says they deployed exactly what they were given. Nobody is lying, and nobody fixes anything quickly. In a system built on a clean handover between separate groups, accountability diffuses precisely at the moment when it is most needed. The checkerboard structure is partly a response to this. When researchers and developers have built something together, they own it together.</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New Direction</a:t>
            </a:r>
          </a:p>
        </p:txBody>
      </p:sp>
      <p:sp>
        <p:nvSpPr>
          <p:cNvPr id="3" name="Content Placeholder 2"/>
          <p:cNvSpPr>
            <a:spLocks noGrp="1"/>
          </p:cNvSpPr>
          <p:nvPr>
            <p:ph idx="1"/>
          </p:nvPr>
        </p:nvSpPr>
        <p:spPr/>
        <p:txBody>
          <a:bodyPr/>
          <a:lstStyle/>
          <a:p>
            <a:pPr lvl="0" indent="0" marL="0">
              <a:buNone/>
            </a:pPr>
            <a:r>
              <a:rPr/>
              <a:t>This platform is built around a single environment for both research and production. Researchers express ideas in high-level terms and the platform carries them through to execution without a translation step.</a:t>
            </a:r>
          </a:p>
          <a:p>
            <a:pPr lvl="0" indent="0" marL="0">
              <a:buNone/>
            </a:pPr>
            <a:r>
              <a:rPr/>
              <a:t>The old handover model borrowed, implicitly, from the assembly line: one group does its work and passes the output down the line. It is an appealing image, but it does not fit knowledge work. Assembly lines function because the interfaces between stations are fixed and fully specified in advance. In research and engineering, the interface is exactly what is hardest to define, and it changes as understanding develops. Treating it like a fixed handoff creates the appearance of process while undermining the collaboration that actually gets things done.</a:t>
            </a:r>
          </a:p>
          <a:p>
            <a:pPr lvl="0" indent="0" marL="0">
              <a:buNone/>
            </a:pPr>
            <a:r>
              <a:rPr/>
              <a:t>A more useful image is the professional kitchen. Most of us have spent time in one, or at least observed one closely. A kitchen is not sequential. Every station is visible to every other. The head chef and the junior cook share the same space and the same pressure. Quality is not inspected at the end; it is everyone’s responsibility throughout. No serious dish leaves a kitchen having passed through one pair of hands with no awareness of what came before or after.</a:t>
            </a:r>
          </a:p>
          <a:p>
            <a:pPr lvl="0" indent="0" marL="0">
              <a:buNone/>
            </a:pPr>
            <a:r>
              <a:rPr/>
              <a:t>A quant fund should work the same way. Researchers and developers in the same room, aware of each other’s constraints, catching problems early. Quality is not a downstream function.</a:t>
            </a:r>
          </a:p>
          <a:p>
            <a:pPr lvl="0" indent="0" marL="0">
              <a:buNone/>
            </a:pPr>
            <a:r>
              <a:rPr/>
              <a:t>The kitchen analogy has a further implication. A chef is not expected to build the oven or construct the fridge. A professional kitchen assumes a working environment: reliable equipment, the right tools available. Asking a chef to fabricate their own appliances would produce worse food and worse appliances. The same applies here. Researchers and developers should not be building basic infrastructure from scratch: data pipelines, execution connectors, backtesting engines, monitoring tooling. That is what the platform provides. The team’s energy belongs on the signals, the models, the risk framework. Everything else is the oven, and it should just work.</a:t>
            </a:r>
          </a:p>
          <a:p>
            <a:pPr lvl="0" indent="0" marL="0">
              <a:buNone/>
            </a:pPr>
            <a:r>
              <a:rPr/>
              <a:t>We organise the team in what we call a checkerboard structure rather than separating researchers and developers upstream and downstream. They sit together, alternate and collaborate continuously. A researcher working on a new signal works alongside the engineer responsible for the infrastructure that will run it. Knowledge moves in both directions. The result is code that is correct and deployable from the start.</a:t>
            </a:r>
          </a:p>
          <a:p>
            <a:pPr lvl="0" indent="0" marL="0">
              <a:buNone/>
            </a:pPr>
            <a:r>
              <a:rPr/>
              <a:t>In practice the boundary between researcher and developer is often blurry, and we think that is a good thing. The modern developer on this platform understands the models and contributes to the research process. The modern researcher writes production-quality code and takes responsibility for what they ship. We assume most researchers have strong development skills, and most developers have enough quantitative depth to engage seriously with the research.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Containerization</a:t>
            </a:r>
          </a:p>
        </p:txBody>
      </p:sp>
      <p:sp>
        <p:nvSpPr>
          <p:cNvPr id="3" name="Content Placeholder 2"/>
          <p:cNvSpPr>
            <a:spLocks noGrp="1"/>
          </p:cNvSpPr>
          <p:nvPr>
            <p:ph idx="1"/>
          </p:nvPr>
        </p:nvSpPr>
        <p:spPr/>
        <p:txBody>
          <a:bodyPr/>
          <a:lstStyle/>
          <a:p>
            <a:pPr lvl="0" indent="0" marL="0">
              <a:buNone/>
            </a:pPr>
            <a:r>
              <a:rPr/>
              <a:t>Containerization is one of the most important practical tools for closing the gap between research and production. A container packages not just code but the entire runtime environment: the operating system libraries, the language version, the dependencies, the configuration. The environment is then identical on a researcher’s laptop, in the backtesting cluster and in live production. The familiar complaint, “it works on my machine,” loses its meaning because every machine runs the same machine.</a:t>
            </a:r>
          </a:p>
          <a:p>
            <a:pPr lvl="0" indent="0" marL="0">
              <a:buNone/>
            </a:pPr>
            <a:r>
              <a:rPr/>
              <a:t>For a quantitative trading platform this matters a great deal. A backtest that silently produces different results in research and production, because of a library version mismatch or a difference in numerical defaults, is worse than no backtest at all. It creates false confidence. Containers make the environment a versioned, reproducible artifact in the same way code is. A strategy and the environment it runs in are deployed together, tested together and promoted through stages together.</a:t>
            </a:r>
          </a:p>
          <a:p>
            <a:pPr lvl="0" indent="0" marL="0">
              <a:buNone/>
            </a:pPr>
            <a:r>
              <a:rPr/>
              <a:t>In practical terms, containers deliver a standardised, fully equipped kitchen to every member of the team. A researcher starting work on a new idea does not spend their first day installing dependencies and debugging environment issues. They open the container and start.</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Building the Kitchen</a:t>
            </a:r>
          </a:p>
        </p:txBody>
      </p:sp>
      <p:sp>
        <p:nvSpPr>
          <p:cNvPr id="3" name="Content Placeholder 2"/>
          <p:cNvSpPr>
            <a:spLocks noGrp="1"/>
          </p:cNvSpPr>
          <p:nvPr>
            <p:ph idx="1"/>
          </p:nvPr>
        </p:nvSpPr>
        <p:spPr/>
        <p:txBody>
          <a:bodyPr/>
          <a:lstStyle/>
          <a:p>
            <a:pPr lvl="0" indent="0" marL="0">
              <a:buNone/>
            </a:pPr>
            <a:r>
              <a:rPr/>
              <a:t>Building the platform means deciding what belongs in every kitchen regardless of what is being cooked. Several components are non-negotiable.</a:t>
            </a:r>
          </a:p>
          <a:p>
            <a:pPr lvl="0" indent="0" marL="0">
              <a:buNone/>
            </a:pPr>
            <a:r>
              <a:rPr b="1"/>
              <a:t>Data API.</a:t>
            </a:r>
            <a:r>
              <a:rPr/>
              <a:t> Access to clean, reliable data is the foundation. Every strategy, every backtest, every risk calculation depends on it. A well-designed data API handles the complexity of sourcing, normalising and versioning data across providers and asset classes so researchers can ask for what they need without worrying about how to fetch it. Getting this layer right is what everything else is built on.</a:t>
            </a:r>
          </a:p>
          <a:p>
            <a:pPr lvl="0" indent="0" marL="0">
              <a:buNone/>
            </a:pPr>
            <a:r>
              <a:rPr b="1"/>
              <a:t>Common strategy tooling.</a:t>
            </a:r>
            <a:r>
              <a:rPr/>
              <a:t> Many of the building blocks of quantitative strategies are not proprietary. Portfolio construction, signal combination, position sizing, transaction cost modelling are shared across the industry and across the team. They should be implemented once, tested thoroughly and available to everyone. A researcher building a new strategy should not be reimplementing a portfolio optimiser or a signal blending framework from scratch.</a:t>
            </a:r>
          </a:p>
          <a:p>
            <a:pPr lvl="0" indent="0" marL="0">
              <a:buNone/>
            </a:pPr>
            <a:r>
              <a:rPr b="1"/>
              <a:t>Performance analytics.</a:t>
            </a:r>
            <a:r>
              <a:rPr/>
              <a:t> Understanding why a strategy performed the way it did matters as much as the performance itself. A standard set of analytics, covering returns decomposition, drawdown analysis, factor attribution and cost accounting, means every strategy can be evaluated consistently. Results are comparable across strategies and over time rather than each researcher maintaining their own metrics.</a:t>
            </a:r>
          </a:p>
          <a:p>
            <a:pPr lvl="0" indent="0" marL="0">
              <a:buNone/>
            </a:pPr>
            <a:r>
              <a:rPr b="1"/>
              <a:t>Live monitoring.</a:t>
            </a:r>
            <a:r>
              <a:rPr/>
              <a:t> A strategy in production requires continuous observation: position and exposure tracking, P&amp;L attribution, signal behaviour, execution quality and alerting when something moves outside expected bounds. Problems should be visible before they become costly.</a:t>
            </a:r>
          </a:p>
          <a:p>
            <a:pPr lvl="0" indent="0" marL="0">
              <a:buNone/>
            </a:pPr>
            <a:r>
              <a:rPr/>
              <a:t>One principle applies across all of this. The kitchen must be built with researchers, not just for them. A platform designed only by engineers, however capable, risks solving the wrong problems. Researchers know what data they actually need, how they think about portfolio construction, what a useful performance report looks like and what slows their work down. That knowledge needs to be in the room when the platform is being built.</a:t>
            </a:r>
          </a:p>
          <a:p>
            <a:pPr lvl="0" indent="0" marL="0">
              <a:buNone/>
            </a:pPr>
            <a:r>
              <a:rPr/>
              <a:t>In practice, the kitchen and the first strategies are often built in parallel. The team cannot wait for a complete platform before starting research, and waiting would be the wrong instinct anyway: building infrastructure in isolation, without real strategies pushing against it, tends to produce the wrong infrastructure. The feedback loop between strategy development and platform development is valuable and should not be broken.</a:t>
            </a:r>
          </a:p>
          <a:p>
            <a:pPr lvl="0" indent="0" marL="0">
              <a:buNone/>
            </a:pPr>
            <a:r>
              <a:rPr/>
              <a:t>That said, we do recommend establishing a minimal set of common tools before the first strategies are implemented. At minimum this means a working data API, a basic portfolio construction library and a consistent project structure enforced by Rhiza. Without these in place, the first strategies will each invent their own solutions, and unpicking that fragmentation later is costly. A small shared foundation built early pays back many times over.</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Building the Strategies</a:t>
            </a:r>
          </a:p>
        </p:txBody>
      </p:sp>
      <p:sp>
        <p:nvSpPr>
          <p:cNvPr id="3" name="Content Placeholder 2"/>
          <p:cNvSpPr>
            <a:spLocks noGrp="1"/>
          </p:cNvSpPr>
          <p:nvPr>
            <p:ph idx="1"/>
          </p:nvPr>
        </p:nvSpPr>
        <p:spPr/>
        <p:txBody>
          <a:bodyPr/>
          <a:lstStyle/>
          <a:p>
            <a:pPr lvl="0" indent="0" marL="0">
              <a:buNone/>
            </a:pPr>
            <a:r>
              <a:rPr/>
              <a:t>With the kitchen in place, strategies can be built in earnest. Each strategy lives in its own repository, but left unmanaged a collection of strategy repos quickly becomes a zoo. CI workflows diverge. Python versions drift. Linting configs split. A security fix lands in one repo and is missed by the rest. The same fragmentation that plagued the old world of personal scripts reappears at the infrastructure level.</a:t>
            </a:r>
          </a:p>
          <a:p>
            <a:pPr lvl="0" indent="0" marL="0">
              <a:buNone/>
            </a:pPr>
            <a:r>
              <a:rPr>
                <a:hlinkClick r:id="rId2"/>
              </a:rPr>
              <a:t>Rhiza</a:t>
            </a:r>
            <a:r>
              <a:rPr/>
              <a:t> addresses this directly. Rather than generating project scaffolding once and walking away, Rhiza keeps every strategy repository aligned with the platform’s canonical standards. When the central template changes, a new CI workflow, an updated linting config, a change to the containerisation setup, Rhiza opens a pull request in each downstream repo with a clear diff of what changed. Owners review, adapt where needed and merge. Nothing is forced and nothing is missed.</a:t>
            </a:r>
          </a:p>
          <a:p>
            <a:pPr lvl="0" indent="0" marL="0">
              <a:buNone/>
            </a:pPr>
            <a:r>
              <a:rPr/>
              <a:t>This is the infrastructure equivalent of shared strategy tooling. Researchers should not reimplement portfolio construction from scratch, and developers should not be manually maintaining CI pipelines in every repo. Rhiza keeps the scaffolding consistent so the team’s attention stays on what is inside it.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Live Trading</a:t>
            </a:r>
          </a:p>
        </p:txBody>
      </p:sp>
      <p:sp>
        <p:nvSpPr>
          <p:cNvPr id="3" name="Content Placeholder 2"/>
          <p:cNvSpPr>
            <a:spLocks noGrp="1"/>
          </p:cNvSpPr>
          <p:nvPr>
            <p:ph idx="1"/>
          </p:nvPr>
        </p:nvSpPr>
        <p:spPr/>
        <p:txBody>
          <a:bodyPr/>
          <a:lstStyle/>
          <a:p>
            <a:pPr lvl="0" indent="0" marL="0">
              <a:buNone/>
            </a:pPr>
            <a:r>
              <a:rPr/>
              <a:t>When a strategy goes live, the cost of any discrepancy between research and production becomes real and immediate. A backtest that behaves differently from the live system, because of an environment mismatch or a parameter misconfigured during deployment, can produce losses that no amount of prior testing would have flagged. Closing this gap is a core design requirement, not a convenience.</a:t>
            </a:r>
          </a:p>
          <a:p>
            <a:pPr lvl="0" indent="0" marL="0">
              <a:buNone/>
            </a:pPr>
            <a:r>
              <a:rPr/>
              <a:t>Proximity is the answer. The container a researcher uses to develop and backtest a strategy is the same container that runs in production. There is no reimplementation, no port, no translation step where something can silently go wrong.</a:t>
            </a:r>
          </a:p>
          <a:p>
            <a:pPr lvl="0" indent="0" marL="0">
              <a:buNone/>
            </a:pPr>
            <a:r>
              <a:rPr/>
              <a:t>What changes between environments is the configuration, not the code. The container is a fixed, versioned artifact. Configuration files tell it where to find data, which parameters to use, what risk limits to respect and which execution venue to connect to. Moving a strategy from backtesting to paper trading to live means changing the configuration it runs against. The container has no knowledge of which environment it is in. It reads its configuration and runs.</a:t>
            </a:r>
          </a:p>
          <a:p>
            <a:pPr lvl="0" indent="0" marL="0">
              <a:buNone/>
            </a:pPr>
            <a:r>
              <a:rPr/>
              <a:t>This separation of code from configuration is what makes promotion between environments safe and auditable. Every configuration file is versioned. Every deployment is a known container image combined with a known configuration state. If something goes wrong in production, the team can reconstruct exactly what was running and with what parameters. Rolling back is a configuration change, not an emergency deployment.</a:t>
            </a:r>
          </a:p>
          <a:p>
            <a:pPr lvl="0" indent="0" marL="0">
              <a:buNone/>
            </a:pPr>
            <a:r>
              <a:rPr b="1"/>
              <a:t>Prime broker connectivity.</a:t>
            </a:r>
            <a:r>
              <a:rPr/>
              <a:t> A live strategy communicates with the outside world: placing orders, receiving fills, querying positions, reconciling cash and margin with a prime broker. This boundary is among the most consequential in the system. Errors here are not silent; they are immediate and financial.</a:t>
            </a:r>
          </a:p>
          <a:p>
            <a:pPr lvl="0" indent="0" marL="0">
              <a:buNone/>
            </a:pPr>
            <a:r>
              <a:rPr/>
              <a:t>The platform puts a clean interface in front of prime broker communication. The strategy expresses intent, buy this instrument in this quantity with this urgency, and the execution layer handles the translation into whatever protocol the broker expects, whether FIX or a proprietary API. The strategy does not need to know which broker it is talking to. Switching brokers or adding a new venue is a configuration change.</a:t>
            </a:r>
          </a:p>
          <a:p>
            <a:pPr lvl="0" indent="0" marL="0">
              <a:buNone/>
            </a:pPr>
            <a:r>
              <a:rPr/>
              <a:t>In backtesting and paper trading the same execution interface is present, backed by a simulated fill engine rather than a live connection. The strategy code is identical across all environments. The broker, like everything else, is a configuration detail.</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Backtesting</a:t>
            </a:r>
          </a:p>
        </p:txBody>
      </p:sp>
      <p:sp>
        <p:nvSpPr>
          <p:cNvPr id="3" name="Content Placeholder 2"/>
          <p:cNvSpPr>
            <a:spLocks noGrp="1"/>
          </p:cNvSpPr>
          <p:nvPr>
            <p:ph idx="1"/>
          </p:nvPr>
        </p:nvSpPr>
        <p:spPr/>
        <p:txBody>
          <a:bodyPr/>
          <a:lstStyle/>
          <a:p>
            <a:pPr lvl="0" indent="0" marL="0">
              <a:buNone/>
            </a:pPr>
            <a:r>
              <a:rPr/>
              <a:t>A backtest is only useful if it is honest. The history of quantitative finance is littered with strategies that looked compelling on paper and disappointed in production, and the gap is rarely explained by bad ideas. It is almost always explained by a backtest that was, in some subtle way, too optimistic.</a:t>
            </a:r>
          </a:p>
          <a:p>
            <a:pPr lvl="0" indent="0" marL="0">
              <a:buNone/>
            </a:pPr>
            <a:r>
              <a:rPr/>
              <a:t>The most common culprit is look-ahead bias: the strategy had access to information during the backtest that it could not have had at the time. This can happen through data that has been revised after the fact, through target variables that leak future information into the features, or simply through a timestamp that is off by one bar. The platform enforces strict point-in-time data semantics. Every data query is anchored to a historical timestamp, and the data API makes it structurally difficult to request information that would not have been available at that point.</a:t>
            </a:r>
          </a:p>
          <a:p>
            <a:pPr lvl="0" indent="0" marL="0">
              <a:buNone/>
            </a:pPr>
            <a:r>
              <a:rPr/>
              <a:t>Transaction costs are the second place where backtests mislead. A strategy that ignores market impact, bid-ask spreads and borrow costs can look highly profitable while being economically meaningless at any realistic scale. The platform models transaction costs explicitly, and the cost model is calibrated against real execution data where available. A researcher should be able to see what a strategy’s net performance looks like under conservative, realistic and optimistic cost assumptions before it is taken seriously.</a:t>
            </a:r>
          </a:p>
          <a:p>
            <a:pPr lvl="0" indent="0" marL="0">
              <a:buNone/>
            </a:pPr>
            <a:r>
              <a:rPr/>
              <a:t>Overfitting is harder to guard against because it is partly a discipline problem rather than a tooling problem. The platform supports walk-forward analysis and out-of-sample evaluation as standard, making it easy to separate the in-sample period used for development from the out-of-sample period used for evaluation. But no tool prevents a researcher from repeatedly tweaking a strategy until the out-of-sample period looks good too. The culture of the team, and the scrutiny applied during strategy review, matters as much as the infrastructure.</a:t>
            </a:r>
          </a:p>
          <a:p>
            <a:pPr lvl="0" indent="0" marL="0">
              <a:buNone/>
            </a:pPr>
            <a:r>
              <a:rPr/>
              <a:t>A backtest that passes these tests is not a guarantee. Markets change, and a strategy that worked for ten years may stop working. The backtesting framework provides evidence, not certainty. The team should treat strong backtest results with interest and some scepticism in equal measure.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 Management</a:t>
            </a:r>
          </a:p>
        </p:txBody>
      </p:sp>
      <p:sp>
        <p:nvSpPr>
          <p:cNvPr id="3" name="Content Placeholder 2"/>
          <p:cNvSpPr>
            <a:spLocks noGrp="1"/>
          </p:cNvSpPr>
          <p:nvPr>
            <p:ph idx="1"/>
          </p:nvPr>
        </p:nvSpPr>
        <p:spPr/>
        <p:txBody>
          <a:bodyPr/>
          <a:lstStyle/>
          <a:p>
            <a:pPr lvl="0" indent="0" marL="0">
              <a:buNone/>
            </a:pPr>
            <a:r>
              <a:rPr/>
              <a:t>Risk management is not a feature that gets added at the end. It is a layer that runs through the entire platform, from the moment a strategy is being designed to every order it places in production.</a:t>
            </a:r>
          </a:p>
          <a:p>
            <a:pPr lvl="0" indent="0" marL="0">
              <a:buNone/>
            </a:pPr>
            <a:r>
              <a:rPr/>
              <a:t>At the research stage, the platform provides tools for understanding the risk profile of a strategy before it goes anywhere near live capital. This means exposure analysis across factors, asset classes and geographies, as well as realistic stress testing against historical regimes. A strategy that looks attractive on raw returns but concentrates risk in ways the researcher has not examined is not ready, and the platform should make that visible early.</a:t>
            </a:r>
          </a:p>
          <a:p>
            <a:pPr lvl="0" indent="0" marL="0">
              <a:buNone/>
            </a:pPr>
            <a:r>
              <a:rPr/>
              <a:t>At the point of deployment, pre-trade risk checks sit between the strategy’s intent and the execution layer. Position limits, notional limits, sector and instrument concentration limits, and maximum order sizes are enforced before any order leaves the system. These limits are, like everything else, configuration. They can be tightened or loosened without touching the strategy code, and every change is versioned and auditable.</a:t>
            </a:r>
          </a:p>
          <a:p>
            <a:pPr lvl="0" indent="0" marL="0">
              <a:buNone/>
            </a:pPr>
            <a:r>
              <a:rPr/>
              <a:t>In production, the platform monitors risk continuously. Drawdown limits trigger alerts and, if configured, automatic position reduction or a full halt. Gross and net exposure are tracked in real time against defined thresholds. If a strategy begins behaving in a way that is inconsistent with its historical risk profile, the monitoring layer surfaces that before it becomes a problem.</a:t>
            </a:r>
          </a:p>
          <a:p>
            <a:pPr lvl="0" indent="0" marL="0">
              <a:buNone/>
            </a:pPr>
            <a:r>
              <a:rPr/>
              <a:t>The kill switch is a first-class platform concept. Every live strategy can be stopped cleanly and immediately, positions can be unwound in an orderly way, and the system returns to a known state. This is not an emergency procedure bolted on as an afterthought. It is something the team tests regularly, the same way a kitchen tests its fire procedures.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Impact of AI</a:t>
            </a:r>
          </a:p>
        </p:txBody>
      </p:sp>
      <p:sp>
        <p:nvSpPr>
          <p:cNvPr id="3" name="Content Placeholder 2"/>
          <p:cNvSpPr>
            <a:spLocks noGrp="1"/>
          </p:cNvSpPr>
          <p:nvPr>
            <p:ph idx="1"/>
          </p:nvPr>
        </p:nvSpPr>
        <p:spPr/>
        <p:txBody>
          <a:bodyPr/>
          <a:lstStyle/>
          <a:p>
            <a:pPr lvl="0" indent="0" marL="0">
              <a:buNone/>
            </a:pPr>
            <a:r>
              <a:rPr/>
              <a:t>AI has changed what is possible at every stage of this work, and we use it throughout.</a:t>
            </a:r>
          </a:p>
          <a:p>
            <a:pPr lvl="0" indent="0" marL="0">
              <a:buNone/>
            </a:pPr>
            <a:r>
              <a:rPr/>
              <a:t>When building the platform itself, AI assistants accelerate the construction of the kitchen. Boilerplate that once took days to write and review can be generated, tested and iterated in hours. Documentation, test coverage, code review: tasks that historically competed with research time are now far less costly. The kitchen gets built faster, and with more of the team’s attention available for the harder problems.</a:t>
            </a:r>
          </a:p>
          <a:p>
            <a:pPr lvl="0" indent="0" marL="0">
              <a:buNone/>
            </a:pPr>
            <a:r>
              <a:rPr/>
              <a:t>In research, AI assists with signal generation, literature review, code prototyping and the kind of exploratory data analysis that used to require a full day of scripting. A researcher can move from a rough idea to a working prototype more quickly than before, which means more ideas get tested and more of them reach the stage where they can be seriously evaluated.</a:t>
            </a:r>
          </a:p>
          <a:p>
            <a:pPr lvl="0" indent="0" marL="0">
              <a:buNone/>
            </a:pPr>
            <a:r>
              <a:rPr/>
              <a:t>In production, AI supports monitoring and anomaly detection. A live strategy generates a continuous stream of data: fills, positions, P&amp;L, signal values, execution quality. Identifying when something has drifted outside normal behaviour is exactly the kind of pattern recognition that AI handles well. Problems that might previously have gone unnoticed for hours can surface in minutes.</a:t>
            </a:r>
          </a:p>
          <a:p>
            <a:pPr lvl="0" indent="0" marL="0">
              <a:buNone/>
            </a:pPr>
            <a:r>
              <a:rPr/>
              <a:t>None of this replaces judgement. AI does not know which signals are real and which are spurious. It does not understand the difference between a model that is broken and a market that has changed. The researchers and developers on the team carry that responsibility. What AI does is remove the friction that previously consumed so much of their time, leaving more of it for the work that actually requires a human.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Jebel Quant Research</a:t>
            </a:r>
          </a:p>
        </p:txBody>
      </p:sp>
      <p:sp>
        <p:nvSpPr>
          <p:cNvPr id="3" name="Content Placeholder 2"/>
          <p:cNvSpPr>
            <a:spLocks noGrp="1"/>
          </p:cNvSpPr>
          <p:nvPr>
            <p:ph idx="1"/>
          </p:nvPr>
        </p:nvSpPr>
        <p:spPr/>
        <p:txBody>
          <a:bodyPr/>
          <a:lstStyle/>
          <a:p>
            <a:pPr lvl="0" indent="0" marL="0">
              <a:buNone/>
            </a:pPr>
            <a:r>
              <a:rPr/>
              <a:t>Jebel Quant Research develops the tools and infrastructure that the platform described here is built on. The work spans several areas.</a:t>
            </a:r>
          </a:p>
          <a:p>
            <a:pPr lvl="0" indent="0" marL="0">
              <a:buNone/>
            </a:pPr>
            <a:r>
              <a:rPr b="1"/>
              <a:t>Project infrastructure.</a:t>
            </a:r>
            <a:r>
              <a:rPr/>
              <a:t> Rhiza is the first publicly available tool from Jebel Quant Research. It solves the repo zoo problem for Python-heavy organisations by keeping project scaffolding continuously aligned across many repositories through a pull request based sync mechanism. It is already in use beyond Jebel Quant, including at Stanford’s CVXGRP and Janus Henderson. Relevant repos: </a:t>
            </a:r>
            <a:r>
              <a:rPr>
                <a:hlinkClick r:id="rId2"/>
              </a:rPr>
              <a:t>rhiza</a:t>
            </a:r>
            <a:r>
              <a:rPr/>
              <a:t>, </a:t>
            </a:r>
            <a:r>
              <a:rPr>
                <a:hlinkClick r:id="rId3"/>
              </a:rPr>
              <a:t>rhiza-cli</a:t>
            </a:r>
            <a:r>
              <a:rPr/>
              <a:t>, </a:t>
            </a:r>
            <a:r>
              <a:rPr>
                <a:hlinkClick r:id="rId4"/>
              </a:rPr>
              <a:t>rhiza-tools</a:t>
            </a:r>
            <a:r>
              <a:rPr/>
              <a:t>, </a:t>
            </a:r>
            <a:r>
              <a:rPr>
                <a:hlinkClick r:id="rId5"/>
              </a:rPr>
              <a:t>rhiza-hooks</a:t>
            </a:r>
            <a:r>
              <a:rPr/>
              <a:t>, </a:t>
            </a:r>
            <a:r>
              <a:rPr>
                <a:hlinkClick r:id="rId6"/>
              </a:rPr>
              <a:t>rhiza-education</a:t>
            </a:r>
            <a:r>
              <a:rPr/>
              <a:t>.</a:t>
            </a:r>
          </a:p>
          <a:p>
            <a:pPr lvl="0" indent="0" marL="0">
              <a:buNone/>
            </a:pPr>
            <a:r>
              <a:rPr b="1"/>
              <a:t>Data access.</a:t>
            </a:r>
            <a:r>
              <a:rPr/>
              <a:t> A clean, versioned API into market data is foundational to everything else. Jebel Quant Research has developed tooling for sourcing, normalising and serving data across asset classes, with a consistent interface that works identically in research and production.</a:t>
            </a:r>
          </a:p>
          <a:p>
            <a:pPr lvl="0" indent="0" marL="0">
              <a:buNone/>
            </a:pPr>
            <a:r>
              <a:rPr b="1"/>
              <a:t>Portfolio construction.</a:t>
            </a:r>
            <a:r>
              <a:rPr/>
              <a:t> Drawing on work developed in collaboration with Stephen Boyd’s group at Stanford and informed by co-authored research with Ron Kahn, Jebel Quant Research has built portfolio construction tools grounded in convex optimisation. These cover mean-variance optimisation, transaction cost aware rebalancing and risk-constrained allocation. Relevant repos: </a:t>
            </a:r>
            <a:r>
              <a:rPr>
                <a:hlinkClick r:id="rId7"/>
              </a:rPr>
              <a:t>linalg</a:t>
            </a:r>
            <a:r>
              <a:rPr/>
              <a:t>, </a:t>
            </a:r>
            <a:r>
              <a:rPr>
                <a:hlinkClick r:id="rId8"/>
              </a:rPr>
              <a:t>basanos</a:t>
            </a:r>
            <a:r>
              <a:rPr/>
              <a:t>.</a:t>
            </a:r>
          </a:p>
          <a:p>
            <a:pPr lvl="0" indent="0" marL="0">
              <a:buNone/>
            </a:pPr>
            <a:r>
              <a:rPr b="1"/>
              <a:t>Signal combination and performance analytics.</a:t>
            </a:r>
            <a:r>
              <a:rPr/>
              <a:t> Tools for combining signals from multiple sources, evaluating strategy performance consistently and attributing returns across factors and time periods. The goal is a shared analytical vocabulary across the team rather than each researcher maintaining their own metrics. Relevant repos: </a:t>
            </a:r>
            <a:r>
              <a:rPr>
                <a:hlinkClick r:id="rId9"/>
              </a:rPr>
              <a:t>jquantstats</a:t>
            </a:r>
            <a:r>
              <a:rPr/>
              <a:t>.</a:t>
            </a:r>
          </a:p>
          <a:p>
            <a:pPr lvl="0" indent="0" marL="0">
              <a:buNone/>
            </a:pPr>
            <a:r>
              <a:rPr b="1"/>
              <a:t>Live trading infrastructure.</a:t>
            </a:r>
            <a:r>
              <a:rPr/>
              <a:t> The container-based deployment model, configuration management framework and prime broker connectivity layer described in this document are products of Jebel Quant Research. They are designed to be reusable across strategies and, where appropriate, across organisations.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2026-05-22T19:00:49Z</dcterms:created>
  <dcterms:modified xsi:type="dcterms:W3CDTF">2026-05-22T19:00:49Z</dcterms:modified>
</cp:coreProperties>
</file>

<file path=docProps/custom.xml><?xml version="1.0" encoding="utf-8"?>
<Properties xmlns="http://schemas.openxmlformats.org/officeDocument/2006/custom-properties" xmlns:vt="http://schemas.openxmlformats.org/officeDocument/2006/docPropsVTypes"/>
</file>